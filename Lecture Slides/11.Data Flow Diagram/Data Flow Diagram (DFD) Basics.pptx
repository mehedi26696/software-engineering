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5ORzNXBEEw6FMe7BluRy92cl1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244F4E-C28A-4C65-9936-225681C8FA56}">
  <a:tblStyle styleId="{70244F4E-C28A-4C65-9936-225681C8FA5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433388" y="687388"/>
            <a:ext cx="6454775" cy="363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eeksforgeeks.org/levels-in-data-flow-diagrams-dfd/" TargetMode="External"/><Relationship Id="rId4" Type="http://schemas.openxmlformats.org/officeDocument/2006/relationships/hyperlink" Target="https://www.geeksforgeeks.org/levels-in-data-flow-diagrams-dfd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2288931" y="2642332"/>
            <a:ext cx="72419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C00000"/>
                </a:solidFill>
              </a:rPr>
              <a:t>Data Flow Diagram (DFD) Basics</a:t>
            </a:r>
            <a:endParaRPr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2059941" y="458724"/>
            <a:ext cx="573087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DFD (Data Flow Diagram)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2059950" y="1318550"/>
            <a:ext cx="8772300" cy="4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in the early 70s, and still useful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Simple: easy to learn, sketch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Threats often follow </a:t>
            </a:r>
            <a:r>
              <a:rPr b="0" i="0" lang="en-US" sz="2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28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Abstracts programs into: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spcBef>
                <a:spcPts val="35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Processes: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code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spcBef>
                <a:spcPts val="335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stores: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files, databases, shared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spcBef>
                <a:spcPts val="34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flows: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processes to other elements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5080" rtl="0" algn="l">
              <a:lnSpc>
                <a:spcPct val="107142"/>
              </a:lnSpc>
              <a:spcBef>
                <a:spcPts val="7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External entities: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 but your code &amp; data  Includes people &amp; cloud software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spcBef>
                <a:spcPts val="295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Trust boundaries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(now made explicit)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2133600" y="3810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Flow Diagram (DFD):  Symbols</a:t>
            </a:r>
            <a:endParaRPr/>
          </a:p>
        </p:txBody>
      </p:sp>
      <p:cxnSp>
        <p:nvCxnSpPr>
          <p:cNvPr id="100" name="Google Shape;100;p3"/>
          <p:cNvCxnSpPr/>
          <p:nvPr/>
        </p:nvCxnSpPr>
        <p:spPr>
          <a:xfrm>
            <a:off x="2362200" y="4572000"/>
            <a:ext cx="190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01" name="Google Shape;101;p3"/>
          <p:cNvCxnSpPr/>
          <p:nvPr/>
        </p:nvCxnSpPr>
        <p:spPr>
          <a:xfrm>
            <a:off x="2362200" y="5162491"/>
            <a:ext cx="190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02" name="Google Shape;102;p3"/>
          <p:cNvCxnSpPr/>
          <p:nvPr/>
        </p:nvCxnSpPr>
        <p:spPr>
          <a:xfrm flipH="1" rot="10800000">
            <a:off x="8357616" y="4181856"/>
            <a:ext cx="1828800" cy="1295400"/>
          </a:xfrm>
          <a:prstGeom prst="curvedConnector3">
            <a:avLst>
              <a:gd fmla="val 30011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03" name="Google Shape;103;p3"/>
          <p:cNvCxnSpPr/>
          <p:nvPr/>
        </p:nvCxnSpPr>
        <p:spPr>
          <a:xfrm>
            <a:off x="5791200" y="4348162"/>
            <a:ext cx="0" cy="144780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04" name="Google Shape;104;p3"/>
          <p:cNvSpPr txBox="1"/>
          <p:nvPr/>
        </p:nvSpPr>
        <p:spPr>
          <a:xfrm>
            <a:off x="2364658" y="3127212"/>
            <a:ext cx="2209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Entity / Interactor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035736" y="2847945"/>
            <a:ext cx="9785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2532888" y="5362546"/>
            <a:ext cx="14478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991600" y="4872007"/>
            <a:ext cx="1981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099304" y="5795962"/>
            <a:ext cx="1981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boundary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62200" y="2095500"/>
            <a:ext cx="2133600" cy="914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067800" y="1868406"/>
            <a:ext cx="914400" cy="914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3467689" y="450066"/>
            <a:ext cx="6477000" cy="843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20"/>
              <a:buFont typeface="Times New Roman"/>
              <a:buNone/>
            </a:pPr>
            <a:r>
              <a:rPr b="1" lang="en-US" sz="5420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Entity</a:t>
            </a:r>
            <a:endParaRPr/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9067800" y="6248401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348320" y="1962070"/>
            <a:ext cx="990600" cy="9271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733802" y="2133601"/>
            <a:ext cx="5793707" cy="58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producer or consumer of data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568700" y="3071813"/>
            <a:ext cx="6003966" cy="52225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r>
              <a:rPr b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person, a device, a sensor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568699" y="3746501"/>
            <a:ext cx="6274981" cy="46047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example: computer-based system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543300" y="4737100"/>
            <a:ext cx="6070930" cy="9547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must always originate somewhere and must always be sent to something</a:t>
            </a:r>
            <a:endParaRPr b="1" i="1" sz="28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3050931" y="658327"/>
            <a:ext cx="5435600" cy="843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20"/>
              <a:buFont typeface="Times New Roman"/>
              <a:buNone/>
            </a:pPr>
            <a:r>
              <a:rPr b="1" lang="en-US" sz="5420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endParaRPr/>
          </a:p>
        </p:txBody>
      </p:sp>
      <p:sp>
        <p:nvSpPr>
          <p:cNvPr id="127" name="Google Shape;127;p5"/>
          <p:cNvSpPr txBox="1"/>
          <p:nvPr>
            <p:ph idx="12" type="sldNum"/>
          </p:nvPr>
        </p:nvSpPr>
        <p:spPr>
          <a:xfrm>
            <a:off x="9067800" y="6248401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301348" y="1897416"/>
            <a:ext cx="1130300" cy="11303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935413" y="2489200"/>
            <a:ext cx="184150" cy="93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886201" y="2133601"/>
            <a:ext cx="5506154" cy="82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 transformer (changes input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output)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416300" y="3205164"/>
            <a:ext cx="6044964" cy="9547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</a:t>
            </a:r>
            <a:r>
              <a:rPr i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taxes, determine area, format report, display graph</a:t>
            </a:r>
            <a:r>
              <a:rPr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362332" y="4791970"/>
            <a:ext cx="6947591" cy="107831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must always be processed in some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achieve system function</a:t>
            </a:r>
            <a:endParaRPr i="1" sz="321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2743200" y="1038895"/>
            <a:ext cx="5211763" cy="843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20"/>
              <a:buFont typeface="Times New Roman"/>
              <a:buNone/>
            </a:pPr>
            <a:r>
              <a:rPr b="1" lang="en-US" sz="5420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</a:t>
            </a:r>
            <a:endParaRPr/>
          </a:p>
        </p:txBody>
      </p:sp>
      <p:sp>
        <p:nvSpPr>
          <p:cNvPr id="138" name="Google Shape;138;p6"/>
          <p:cNvSpPr txBox="1"/>
          <p:nvPr>
            <p:ph idx="12" type="sldNum"/>
          </p:nvPr>
        </p:nvSpPr>
        <p:spPr>
          <a:xfrm>
            <a:off x="9067800" y="6248401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126478" y="1374765"/>
            <a:ext cx="1816100" cy="288925"/>
          </a:xfrm>
          <a:prstGeom prst="rightArrow">
            <a:avLst>
              <a:gd fmla="val 50000" name="adj1"/>
              <a:gd fmla="val 314315" name="adj2"/>
            </a:avLst>
          </a:prstGeom>
          <a:solidFill>
            <a:schemeClr val="folHlink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694114" y="2395539"/>
            <a:ext cx="6248464" cy="9547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flows through a system, beginning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input and transformed into output.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562601" y="3770313"/>
            <a:ext cx="1574800" cy="14732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843760" y="3962400"/>
            <a:ext cx="1028357" cy="119340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triangle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4394201" y="3876676"/>
            <a:ext cx="1168400" cy="347663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6"/>
          <p:cNvCxnSpPr/>
          <p:nvPr/>
        </p:nvCxnSpPr>
        <p:spPr>
          <a:xfrm flipH="1" rot="10800000">
            <a:off x="4381500" y="4824413"/>
            <a:ext cx="1206500" cy="26670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6"/>
          <p:cNvCxnSpPr/>
          <p:nvPr/>
        </p:nvCxnSpPr>
        <p:spPr>
          <a:xfrm>
            <a:off x="7213600" y="4533900"/>
            <a:ext cx="11557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6"/>
          <p:cNvSpPr/>
          <p:nvPr/>
        </p:nvSpPr>
        <p:spPr>
          <a:xfrm>
            <a:off x="4494213" y="3578225"/>
            <a:ext cx="626774" cy="36567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303714" y="4619625"/>
            <a:ext cx="788163" cy="36567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402514" y="4137025"/>
            <a:ext cx="604973" cy="36567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3429000" y="987047"/>
            <a:ext cx="4826000" cy="759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18"/>
              <a:buFont typeface="Times New Roman"/>
              <a:buNone/>
            </a:pPr>
            <a:r>
              <a:rPr b="1" lang="en-US" sz="4818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Stores</a:t>
            </a:r>
            <a:endParaRPr/>
          </a:p>
        </p:txBody>
      </p:sp>
      <p:sp>
        <p:nvSpPr>
          <p:cNvPr id="154" name="Google Shape;154;p7"/>
          <p:cNvSpPr txBox="1"/>
          <p:nvPr>
            <p:ph idx="12" type="sldNum"/>
          </p:nvPr>
        </p:nvSpPr>
        <p:spPr>
          <a:xfrm>
            <a:off x="9067800" y="6248401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671888" y="2025650"/>
            <a:ext cx="1727200" cy="85726"/>
          </a:xfrm>
          <a:prstGeom prst="rect">
            <a:avLst/>
          </a:prstGeom>
          <a:solidFill>
            <a:schemeClr val="folHlink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671888" y="2636838"/>
            <a:ext cx="1727200" cy="85726"/>
          </a:xfrm>
          <a:prstGeom prst="rect">
            <a:avLst/>
          </a:prstGeom>
          <a:solidFill>
            <a:schemeClr val="folHlink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267200" y="2133600"/>
            <a:ext cx="3312894" cy="36567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often stored for later use.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513388" y="3217863"/>
            <a:ext cx="1574800" cy="1473200"/>
          </a:xfrm>
          <a:prstGeom prst="ellipse">
            <a:avLst/>
          </a:prstGeom>
          <a:solidFill>
            <a:schemeClr val="folHlink"/>
          </a:solidFill>
          <a:ln>
            <a:noFill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875683" y="3443288"/>
            <a:ext cx="913711" cy="119340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look-up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>
            <a:off x="4344988" y="3322638"/>
            <a:ext cx="1168400" cy="34925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7"/>
          <p:cNvCxnSpPr/>
          <p:nvPr/>
        </p:nvCxnSpPr>
        <p:spPr>
          <a:xfrm flipH="1" rot="10800000">
            <a:off x="4332289" y="4271963"/>
            <a:ext cx="1206500" cy="26670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7"/>
          <p:cNvCxnSpPr/>
          <p:nvPr/>
        </p:nvCxnSpPr>
        <p:spPr>
          <a:xfrm>
            <a:off x="7164388" y="3979863"/>
            <a:ext cx="11557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7"/>
          <p:cNvSpPr/>
          <p:nvPr/>
        </p:nvSpPr>
        <p:spPr>
          <a:xfrm>
            <a:off x="4597400" y="3051175"/>
            <a:ext cx="889666" cy="33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#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429000" y="4002087"/>
            <a:ext cx="1503185" cy="33690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required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137401" y="3227389"/>
            <a:ext cx="1466747" cy="58041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#, type,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location, age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745288" y="5327650"/>
            <a:ext cx="1663700" cy="34925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783388" y="5886451"/>
            <a:ext cx="1663700" cy="3651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6808788" y="4605338"/>
            <a:ext cx="622300" cy="64135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7"/>
          <p:cNvSpPr/>
          <p:nvPr/>
        </p:nvSpPr>
        <p:spPr>
          <a:xfrm>
            <a:off x="6896101" y="5426075"/>
            <a:ext cx="1164677" cy="33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data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351464" y="4814888"/>
            <a:ext cx="1469911" cy="33690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number</a:t>
            </a:r>
            <a:endParaRPr/>
          </a:p>
        </p:txBody>
      </p:sp>
      <p:cxnSp>
        <p:nvCxnSpPr>
          <p:cNvPr id="171" name="Google Shape;171;p7"/>
          <p:cNvCxnSpPr/>
          <p:nvPr/>
        </p:nvCxnSpPr>
        <p:spPr>
          <a:xfrm>
            <a:off x="6973888" y="4452938"/>
            <a:ext cx="812800" cy="81915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2" name="Google Shape;172;p7"/>
          <p:cNvSpPr/>
          <p:nvPr/>
        </p:nvSpPr>
        <p:spPr>
          <a:xfrm>
            <a:off x="7467600" y="4397376"/>
            <a:ext cx="1262652" cy="58041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location, 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2057400" y="36576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C00000"/>
                </a:solidFill>
              </a:rPr>
              <a:t>DFD  Elements: Examples</a:t>
            </a:r>
            <a:endParaRPr b="1">
              <a:solidFill>
                <a:srgbClr val="C00000"/>
              </a:solidFill>
            </a:endParaRPr>
          </a:p>
        </p:txBody>
      </p:sp>
      <p:graphicFrame>
        <p:nvGraphicFramePr>
          <p:cNvPr id="178" name="Google Shape;178;p8"/>
          <p:cNvGraphicFramePr/>
          <p:nvPr/>
        </p:nvGraphicFramePr>
        <p:xfrm>
          <a:off x="1335024" y="16367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{70244F4E-C28A-4C65-9936-225681C8FA56}</a:tableStyleId>
              </a:tblPr>
              <a:tblGrid>
                <a:gridCol w="2921750"/>
                <a:gridCol w="6005825"/>
              </a:tblGrid>
              <a:tr h="6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External Entity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People, other systems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  <a:tr h="6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Process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DLLS, Components, Services, Web Services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  <a:tr h="6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Data Flow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Function call, Network traffic, Remote procedure call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  <a:tr h="6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Data Store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Database, file, registry, shared memory, queue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  <a:tr h="6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Trust Boundary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Process boundary, file system, system boundary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/>
        </p:nvSpPr>
        <p:spPr>
          <a:xfrm>
            <a:off x="1916300" y="2205275"/>
            <a:ext cx="82122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8892" lvl="0" marL="45889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process should have at least one input and an output.</a:t>
            </a:r>
            <a:endParaRPr/>
          </a:p>
          <a:p>
            <a:pPr indent="-458892" lvl="0" marL="45889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data store should have at least one data flow in and one data flow out.</a:t>
            </a:r>
            <a:endParaRPr/>
          </a:p>
          <a:p>
            <a:pPr indent="-458892" lvl="0" marL="45889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stored in a system must go through a process.</a:t>
            </a:r>
            <a:endParaRPr/>
          </a:p>
          <a:p>
            <a:pPr indent="-458892" lvl="0" marL="45889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processes in a DFD go to another process or a data store.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113153" y="905053"/>
            <a:ext cx="5537017" cy="834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8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Rules and Tips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/>
        </p:nvSpPr>
        <p:spPr>
          <a:xfrm>
            <a:off x="2195353" y="1746368"/>
            <a:ext cx="7933227" cy="2965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 flow diagram can dive into progressively more detail by using levels and layers, zeroing in on a particular piece.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levels are numbered 0, 1 or 2, and occasionally go to even Level 3 or beyond. 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3523108" y="522635"/>
            <a:ext cx="5277718" cy="710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15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levels and layers: 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1965903" y="5225222"/>
            <a:ext cx="8489643" cy="1636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7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Examples :</a:t>
            </a:r>
            <a:r>
              <a:rPr lang="en-US" sz="200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7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7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https://www.geeksforgeeks.org/what-is-dfddata-flow-diagram/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7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https://www.geeksforgeeks.org/levels-in-data-flow-diagrams-dfd/</a:t>
            </a:r>
            <a:endParaRPr sz="2007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7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7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/>
        </p:nvSpPr>
        <p:spPr>
          <a:xfrm>
            <a:off x="2271837" y="2205267"/>
            <a:ext cx="8030743" cy="30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10"/>
              <a:buFont typeface="Noto Sans Symbols"/>
              <a:buChar char="❑"/>
            </a:pPr>
            <a:r>
              <a:rPr lang="en-US" sz="281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Level 0 is also called a </a:t>
            </a:r>
            <a:r>
              <a:rPr b="1" lang="en-US" sz="281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Diagram</a:t>
            </a:r>
            <a:r>
              <a:rPr lang="en-US" sz="281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It’s a basic overview of the whole system or process being analyzed or modeled</a:t>
            </a:r>
            <a:r>
              <a:rPr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0"/>
              <a:buFont typeface="Noto Sans Symbols"/>
              <a:buChar char="❑"/>
            </a:pPr>
            <a:r>
              <a:rPr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the system as a single high-level process, with its </a:t>
            </a:r>
            <a:r>
              <a:rPr b="1" lang="en-US" sz="28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to external entities. </a:t>
            </a:r>
            <a:endParaRPr/>
          </a:p>
          <a:p>
            <a:pPr indent="-280457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0"/>
              <a:buFont typeface="Noto Sans Symbols"/>
              <a:buNone/>
            </a:pPr>
            <a:r>
              <a:t/>
            </a:r>
            <a:endParaRPr b="1" sz="28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795784" y="905052"/>
            <a:ext cx="2135415" cy="92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20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4926284" y="1067036"/>
            <a:ext cx="1773398" cy="772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16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0</a:t>
            </a:r>
            <a:endParaRPr/>
          </a:p>
        </p:txBody>
      </p:sp>
      <p:sp>
        <p:nvSpPr>
          <p:cNvPr descr="https://d2slcw3kip6qmk.cloudfront.net/marketing/pages/chart/seo/data-flow-diagram/discovery/data-flow-diagram-3.svg" id="203" name="Google Shape;203;p12"/>
          <p:cNvSpPr/>
          <p:nvPr/>
        </p:nvSpPr>
        <p:spPr>
          <a:xfrm>
            <a:off x="1675904" y="-144999"/>
            <a:ext cx="3196363" cy="319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875" lIns="91775" spcFirstLastPara="1" rIns="91775" wrap="square" tIns="45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336" y="2205268"/>
            <a:ext cx="8706346" cy="304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/>
        </p:nvSpPr>
        <p:spPr>
          <a:xfrm>
            <a:off x="2271837" y="2511201"/>
            <a:ext cx="8030743" cy="345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Level 1 provides a </a:t>
            </a:r>
            <a:r>
              <a:rPr b="1"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detailed breakout of pieces </a:t>
            </a: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Context Level Diagram. </a:t>
            </a:r>
            <a:endParaRPr/>
          </a:p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12"/>
              <a:buFont typeface="Noto Sans Symbols"/>
              <a:buChar char="❑"/>
            </a:pPr>
            <a:r>
              <a:rPr lang="en-US" sz="32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highlight the main functions carried out by the system, as you break down the high-level process of the Context Diagram into its sub-processes.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4902954" y="905053"/>
            <a:ext cx="1820058" cy="772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16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DFD-1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/>
          <p:nvPr/>
        </p:nvSpPr>
        <p:spPr>
          <a:xfrm>
            <a:off x="4904621" y="293186"/>
            <a:ext cx="1969692" cy="834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8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DFD-1</a:t>
            </a:r>
            <a:endParaRPr/>
          </a:p>
        </p:txBody>
      </p:sp>
      <p:sp>
        <p:nvSpPr>
          <p:cNvPr descr="https://d2slcw3kip6qmk.cloudfront.net/marketing/pages/chart/seo/data-flow-diagram/discovery/data-flow-diagram-3.svg" id="216" name="Google Shape;216;p14"/>
          <p:cNvSpPr/>
          <p:nvPr/>
        </p:nvSpPr>
        <p:spPr>
          <a:xfrm>
            <a:off x="1675904" y="-144999"/>
            <a:ext cx="3196363" cy="319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875" lIns="91775" spcFirstLastPara="1" rIns="91775" wrap="square" tIns="45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253" y="1287469"/>
            <a:ext cx="6654045" cy="502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/>
        </p:nvSpPr>
        <p:spPr>
          <a:xfrm>
            <a:off x="2195353" y="2434717"/>
            <a:ext cx="8030743" cy="308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15"/>
              <a:buFont typeface="Noto Sans Symbols"/>
              <a:buChar char="❑"/>
            </a:pPr>
            <a:r>
              <a:rPr lang="en-US" sz="4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Level 2 then goes one </a:t>
            </a:r>
            <a:r>
              <a:rPr b="1" lang="en-US" sz="4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deeper into parts of Level 1</a:t>
            </a:r>
            <a:r>
              <a:rPr lang="en-US" sz="4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458892" lvl="0" marL="458892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15"/>
              <a:buFont typeface="Noto Sans Symbols"/>
              <a:buChar char="❑"/>
            </a:pPr>
            <a:r>
              <a:rPr lang="en-US" sz="4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may require more text to reach the necessary level of detail about the system’s functioning.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4749987" y="905053"/>
            <a:ext cx="1820058" cy="772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16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DFD-2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/>
          <p:nvPr/>
        </p:nvSpPr>
        <p:spPr>
          <a:xfrm>
            <a:off x="4892298" y="293187"/>
            <a:ext cx="1820058" cy="772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16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DFD-2</a:t>
            </a:r>
            <a:endParaRPr/>
          </a:p>
        </p:txBody>
      </p:sp>
      <p:sp>
        <p:nvSpPr>
          <p:cNvPr descr="https://d2slcw3kip6qmk.cloudfront.net/marketing/pages/chart/seo/data-flow-diagram/discovery/data-flow-diagram-3.svg" id="229" name="Google Shape;229;p16"/>
          <p:cNvSpPr/>
          <p:nvPr/>
        </p:nvSpPr>
        <p:spPr>
          <a:xfrm>
            <a:off x="1675904" y="-144999"/>
            <a:ext cx="3196363" cy="319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875" lIns="91775" spcFirstLastPara="1" rIns="91775" wrap="square" tIns="45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836" y="1065488"/>
            <a:ext cx="7801294" cy="5652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/>
        </p:nvSpPr>
        <p:spPr>
          <a:xfrm>
            <a:off x="2424803" y="2128785"/>
            <a:ext cx="8030743" cy="333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8892" lvl="0" marL="45889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13"/>
              <a:buFont typeface="Noto Sans Symbols"/>
              <a:buChar char="❑"/>
            </a:pPr>
            <a:r>
              <a:rPr lang="en-US" sz="361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Progression to Levels 3, 4 and beyond is possible, but going beyond Level 3 is uncommon. </a:t>
            </a:r>
            <a:endParaRPr/>
          </a:p>
          <a:p>
            <a:pPr indent="-458892" lvl="0" marL="45889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13"/>
              <a:buFont typeface="Noto Sans Symbols"/>
              <a:buChar char="❑"/>
            </a:pPr>
            <a:r>
              <a:rPr lang="en-US" sz="361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Doing so can create complexity that makes it difficult to communicate, compare or model effectively.</a:t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4489851" y="981536"/>
            <a:ext cx="2536047" cy="834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8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3,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2025-07-09T19:54:54Z</dcterms:created>
  <dc:creator>Sarker Ahmed rumee</dc:creator>
</cp:coreProperties>
</file>